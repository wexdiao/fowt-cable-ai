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73152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20260605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27432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Presenter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2743200" cy="4572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Diao Jingyu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7589520" cy="4572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Ocean Engineering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06040"/>
            <a:ext cx="7589520" cy="12801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Calibri"/>
              </a:rPr>
              <a:t>Dynamic Power Cables for
Floating Offshore Wind Turbines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206240"/>
            <a:ext cx="7589520" cy="4114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From literature review to a research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074920"/>
            <a:ext cx="7589520" cy="2743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349240"/>
            <a:ext cx="7589520" cy="8229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1. Field overview   →   2. Accessible directions   →   3. Our feasible path   →   4. Beier 2023   →   5. Beyond Beier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Field Overview — Six Research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Cerik &amp; Huang, Ocean Engineering 311 (2024) — a review of the last ~20 years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2743200"/>
                <a:gridCol w="4206240"/>
                <a:gridCol w="1920240"/>
              </a:tblGrid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Research Area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Key Question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State of the Art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Accessible to us?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Mechanical properties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Stiffness, stick-slip nonlinearity?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Bending hysteresis quantified (Hu 2022; Ménard 2023)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❌ needs bending rig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Failure mechanisms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Why does it fail?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Fretting, water tree, biofouling — identified separately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❌ needs FEA / electrical lab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Fatigue analysis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How long can it last?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4-step workflow standardised (global → local → rainflow → Miner)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✅ global half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Experimental studies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Where do test data come from?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Vendors hold the data; public datasets are scarce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❌ needs full-scale rig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Local (cross-section) analysis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Internal stress distribution?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RVE / beam / homogenisation strategies mature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❌ needs UFLEX / Helica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Global load analysis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Overall response of the whole cable?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dominates; OpenFAST + MoorDyn now open-source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✅ our core tool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623560"/>
            <a:ext cx="11430000" cy="77724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Filter result → next slide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Only areas 3 (global half) and 6 are accessible. On P3 we zoom into these two areas and split them into 4 active sub-directions.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P2 / 9  ·  Ocean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Zoom in — 4 Sub-directions Within Accessible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Expanding P2's Area 3 (Fatigue, global half) + Area 6 (Global analysis)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50292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P2: 6 areas   →   filter by tools   →   Area 3 + Area 6 kept   →   below: 4 active sub-directions in the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1097280"/>
                <a:gridCol w="4023360"/>
                <a:gridCol w="301752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Sub-direction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From P2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Representative Work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Configuration studies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Area 6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Schnepf 2023; Beier 2024 (semi-sub vs spar)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/ OpenFAST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Platform–cable global coupling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Area 6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Sobhaniasl 2020; Hall 2021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/ OpenFAST + MoorDyn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Full fatigue workflow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Area 3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Beier 2023</a:t>
                      </a:r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 (→ P5); Bakken 2019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+ UFLEX / Helica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Configuration optimization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Area 6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Rentschler 2019, 2020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+ GA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26280"/>
            <a:ext cx="1143000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Research gaps from §5 most relevant to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11430000" cy="155448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Gap A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Linearization in global-local linking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σ = Kt·T + Kc·C ignores stick-slip nonlinearity.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Gap B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Novel / deep-water configurations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fully suspended, W-shape, floater-type effects under-studied.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Gap C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Project-specific designs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no rapid-screening tool for early-stage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P3 / 9  ·  Ocean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Our Feasible Path — OrcaFlex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Lab: OrcaFlex + Rhino + PC   |   Personal direction: AI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① Tool-gate filter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280160"/>
                <a:gridCol w="118872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We have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We lack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Feasible?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① Configuration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OrcaFlex, Rhino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② Coupling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(6 DOF)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③ Fatigue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UFLEX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⚠️ → P4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④ Optimization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+ Python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32588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② AI entry points (question bank)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9164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210312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AI role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A. Bending Kc correction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Supervised / PINN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B. OrcaFlex surrogate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NN surrogate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C. Configuration optimization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Bayesian opt. / RL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D. Floater × sea-state sweep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Active learning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4526280"/>
            <a:ext cx="11430000" cy="164592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Funnel conclusion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Feasible research route = OrcaFlex global simulation + AI algorithms.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Entry into the literature: gaps A (linking), B (configurations), C (rapid screening).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Next slide: Beier 2023 — proof that fatigue analysis is possible without UFLEX.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P4 / 9  ·  Ocean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Beier et al. (2023) — Fatigue with Simplified Stress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Inter-array cable between two FOWTs  |  OC3-Hywind 5 MW  |  North Sea, 320 m  |  JMSE 11(7)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577840" cy="155448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Cable: 1260 m, fully suspended, 3 buoys @ 300 m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Location: 61°N North Sea, 320 m depth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Load cases: 30 sea states × 6 directions = 180 OrcaFlex runs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Spectra: Torsethaugen (waves), NPD (wind)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4-step fatigue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5577840" cy="182880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Step 1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UFLEX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nonlinear M(κ)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Step 2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OrcaFlex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global T(t), C(t)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Step 3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Stress factors Kt, Kc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σ(t) = Kt·T + Kc·C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Step 4 —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Rainflow + Miner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fatigue damage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577840" cy="169164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★ Key innovation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Simplified analytical stress factors —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no UFLEX needed at preliminary design.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• Kt (copper) = 232.3 kPa/kN — matches UFLEX exactly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• Kc — up to 218% conservative for bending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Min fatigue life: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≈ 7 × 10⁴ years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(≫ 25-year design life)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Critical locations: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hang-off + buoy attachment points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Failure mode: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copper conductor first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Dominant driver: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bending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(not axial tension)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Marine growth (EOL):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≈ 10% life reduction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532120"/>
            <a:ext cx="11430000" cy="9144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Why this matters for us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Beier proves a complete fatigue analysis is feasible with OrcaFlex alone. The 218% bending conservatism is the exact opening for our AI work (→ P5).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P5 / 9  ·  Ocean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Research Directions Beyond Beier (2023)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Six extensions, all reachable with OrcaFlex + AI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468880"/>
                <a:gridCol w="3840480"/>
                <a:gridCol w="4663440"/>
              </a:tblGrid>
              <a:tr h="56170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Still open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Our extension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Bending Kc accuracy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True Kc still needs UFLEX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AI surrogate from literature data</a:t>
                      </a:r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 — most direct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Floater type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TLP, barge untouched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Multi-floater sampling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Configuration variants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Lazy / W-shape; buoy layout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Bayesian opt. / RL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Environmental coverage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Other locations; misaligned wind/wave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Active learning on hi-dim space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Workflow acceleration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Each design = full re-sim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NN surrogate </a:t>
                      </a:r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(~1000× faster)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392B"/>
                          </a:solidFill>
                          <a:latin typeface="Calibri"/>
                        </a:rPr>
                        <a:t>Beyond fatigue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Installation, ULS, full coupling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OrcaFlex direct; AI for UQ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440680"/>
            <a:ext cx="11430000" cy="100584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★ Most promising next step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Combine direction 1 + 5 — train an NN on Beier-style OrcaFlex outputs to (a) correct bending Kc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and (b) act as a surrogate for new designs. Discussion: which direction fits the group's research 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P6 / 9  ·  Ocean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PART II 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Mini Project — Purpose, Data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Why this project · what data we use · how the code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03520" cy="164592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Step 0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of the AI half of our cable-research funnel.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Build the pipeline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(Pandas time-series → corr → curve) we'll reuse on OrcaFlex T(t), C(t) later.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Practice on public wind data first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; cable surrogate (CNN-GRU) comes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530352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Dataset background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84048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069080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000" marR="50000" marT="40000" marB="40000" anchor="ctr">
                    <a:solidFill>
                      <a:srgbClr val="1F3A5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Kaggle — Wind Turbine SCADA Dataset (public)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Turbine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Single onshore unit, Turkey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2018, full year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Sampling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10-min interval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50,460 rows × 5 columns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wind speed, power, theoretical, wind dir</a:t>
                      </a:r>
                    </a:p>
                  </a:txBody>
                  <a:tcPr marL="50000" marR="50000" marT="40000" marB="40000"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0 % missing values</a:t>
                      </a:r>
                    </a:p>
                  </a:txBody>
                  <a:tcPr marL="50000" marR="5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1463040"/>
            <a:ext cx="585216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Code logic flowchart</a:t>
            </a:r>
          </a:p>
        </p:txBody>
      </p:sp>
      <p:sp>
        <p:nvSpPr>
          <p:cNvPr id="11" name="Terminator 10"/>
          <p:cNvSpPr/>
          <p:nvPr/>
        </p:nvSpPr>
        <p:spPr>
          <a:xfrm>
            <a:off x="7680960" y="1792224"/>
            <a:ext cx="1097280" cy="256032"/>
          </a:xfrm>
          <a:prstGeom prst="flowChartTerminator">
            <a:avLst/>
          </a:prstGeom>
          <a:solidFill>
            <a:srgbClr val="FFE0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Start</a:t>
            </a:r>
          </a:p>
        </p:txBody>
      </p:sp>
      <p:sp>
        <p:nvSpPr>
          <p:cNvPr id="12" name="Data 11"/>
          <p:cNvSpPr/>
          <p:nvPr/>
        </p:nvSpPr>
        <p:spPr>
          <a:xfrm>
            <a:off x="6675120" y="2185415"/>
            <a:ext cx="3108960" cy="292608"/>
          </a:xfrm>
          <a:prstGeom prst="flowChartInputOutput">
            <a:avLst/>
          </a:prstGeom>
          <a:solidFill>
            <a:srgbClr val="E8F5E9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Input · T1.csv (50,460 × 5)</a:t>
            </a:r>
          </a:p>
        </p:txBody>
      </p:sp>
      <p:sp>
        <p:nvSpPr>
          <p:cNvPr id="13" name="Process 12"/>
          <p:cNvSpPr/>
          <p:nvPr/>
        </p:nvSpPr>
        <p:spPr>
          <a:xfrm>
            <a:off x="6675120" y="2587752"/>
            <a:ext cx="3108960" cy="292608"/>
          </a:xfrm>
          <a:prstGeom prst="flowChartProcess">
            <a:avLst/>
          </a:prstGeom>
          <a:solidFill>
            <a:srgbClr val="E3F2FD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Read CSV → DatetimeIndex</a:t>
            </a:r>
          </a:p>
        </p:txBody>
      </p:sp>
      <p:sp>
        <p:nvSpPr>
          <p:cNvPr id="14" name="Decision 13"/>
          <p:cNvSpPr/>
          <p:nvPr/>
        </p:nvSpPr>
        <p:spPr>
          <a:xfrm>
            <a:off x="7132320" y="3026664"/>
            <a:ext cx="2194560" cy="457200"/>
          </a:xfrm>
          <a:prstGeom prst="flowChartDecision">
            <a:avLst/>
          </a:prstGeom>
          <a:solidFill>
            <a:srgbClr val="FFF1C5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missing &gt; 5%?</a:t>
            </a:r>
          </a:p>
        </p:txBody>
      </p:sp>
      <p:sp>
        <p:nvSpPr>
          <p:cNvPr id="15" name="Process 14"/>
          <p:cNvSpPr/>
          <p:nvPr/>
        </p:nvSpPr>
        <p:spPr>
          <a:xfrm>
            <a:off x="6675120" y="3803904"/>
            <a:ext cx="3108960" cy="292608"/>
          </a:xfrm>
          <a:prstGeom prst="flowChartProcess">
            <a:avLst/>
          </a:prstGeom>
          <a:solidFill>
            <a:srgbClr val="E3F2FD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Resample 10-min → 1-day</a:t>
            </a:r>
          </a:p>
        </p:txBody>
      </p:sp>
      <p:sp>
        <p:nvSpPr>
          <p:cNvPr id="16" name="Process 15"/>
          <p:cNvSpPr/>
          <p:nvPr/>
        </p:nvSpPr>
        <p:spPr>
          <a:xfrm>
            <a:off x="6675120" y="4233672"/>
            <a:ext cx="3108960" cy="292608"/>
          </a:xfrm>
          <a:prstGeom prst="flowChartProcess">
            <a:avLst/>
          </a:prstGeom>
          <a:solidFill>
            <a:srgbClr val="E3F2FD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24-h rolling (center=True)</a:t>
            </a:r>
          </a:p>
        </p:txBody>
      </p:sp>
      <p:sp>
        <p:nvSpPr>
          <p:cNvPr id="17" name="Process 16"/>
          <p:cNvSpPr/>
          <p:nvPr/>
        </p:nvSpPr>
        <p:spPr>
          <a:xfrm>
            <a:off x="6675120" y="4663440"/>
            <a:ext cx="3108960" cy="292608"/>
          </a:xfrm>
          <a:prstGeom prst="flowChartProcess">
            <a:avLst/>
          </a:prstGeom>
          <a:solidFill>
            <a:srgbClr val="E3F2FD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corr() + power-curve scatter</a:t>
            </a:r>
          </a:p>
        </p:txBody>
      </p:sp>
      <p:sp>
        <p:nvSpPr>
          <p:cNvPr id="18" name="Data 17"/>
          <p:cNvSpPr/>
          <p:nvPr/>
        </p:nvSpPr>
        <p:spPr>
          <a:xfrm>
            <a:off x="6675120" y="5093208"/>
            <a:ext cx="3108960" cy="292608"/>
          </a:xfrm>
          <a:prstGeom prst="flowChartInputOutput">
            <a:avLst/>
          </a:prstGeom>
          <a:solidFill>
            <a:srgbClr val="E8F5E9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Output · PNG @ 150 DPI</a:t>
            </a:r>
          </a:p>
        </p:txBody>
      </p:sp>
      <p:sp>
        <p:nvSpPr>
          <p:cNvPr id="19" name="Terminator 18"/>
          <p:cNvSpPr/>
          <p:nvPr/>
        </p:nvSpPr>
        <p:spPr>
          <a:xfrm>
            <a:off x="7680960" y="5522976"/>
            <a:ext cx="1097280" cy="256032"/>
          </a:xfrm>
          <a:prstGeom prst="flowChartTerminator">
            <a:avLst/>
          </a:prstGeom>
          <a:solidFill>
            <a:srgbClr val="FFE0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End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156448" y="2048256"/>
            <a:ext cx="146304" cy="137159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8156448" y="2478024"/>
            <a:ext cx="146304" cy="109728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156448" y="2880360"/>
            <a:ext cx="146304" cy="146303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8156448" y="4096512"/>
            <a:ext cx="146304" cy="137159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8156448" y="4526280"/>
            <a:ext cx="146304" cy="137159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8156448" y="4956048"/>
            <a:ext cx="146304" cy="137160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156448" y="5385816"/>
            <a:ext cx="146304" cy="137159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cess 26"/>
          <p:cNvSpPr/>
          <p:nvPr/>
        </p:nvSpPr>
        <p:spPr>
          <a:xfrm>
            <a:off x="10149840" y="3108960"/>
            <a:ext cx="1463040" cy="292608"/>
          </a:xfrm>
          <a:prstGeom prst="flowChartProcess">
            <a:avLst/>
          </a:prstGeom>
          <a:solidFill>
            <a:srgbClr val="E3F2FD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10000" bIns="10000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ffill / drop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26880" y="3182112"/>
            <a:ext cx="822960" cy="146304"/>
          </a:xfrm>
          <a:prstGeom prst="right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2999232"/>
            <a:ext cx="548640" cy="201168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83864"/>
            <a:ext cx="365760" cy="1828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483864"/>
            <a:ext cx="36576" cy="160020"/>
          </a:xfrm>
          <a:prstGeom prst="rect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63072" y="3401568"/>
            <a:ext cx="36576" cy="242316"/>
          </a:xfrm>
          <a:prstGeom prst="rect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625596"/>
            <a:ext cx="2651760" cy="36576"/>
          </a:xfrm>
          <a:prstGeom prst="rect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156448" y="3643884"/>
            <a:ext cx="146304" cy="160019"/>
          </a:xfrm>
          <a:prstGeom prst="downArrow">
            <a:avLst/>
          </a:prstGeom>
          <a:solidFill>
            <a:srgbClr val="4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5989320"/>
            <a:ext cx="5852160" cy="201168"/>
          </a:xfrm>
          <a:prstGeom prst="rect">
            <a:avLst/>
          </a:prstGeom>
          <a:solidFill>
            <a:srgbClr val="F5F7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Legend  </a:t>
            </a:r>
            <a:r>
              <a:rPr sz="1100" b="0" i="0">
                <a:solidFill>
                  <a:srgbClr val="FFC080"/>
                </a:solidFill>
                <a:latin typeface="Calibri"/>
              </a:rPr>
              <a:t>●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Start / End      </a:t>
            </a:r>
            <a:r>
              <a:rPr sz="1100" b="0" i="0">
                <a:solidFill>
                  <a:srgbClr val="90C8E8"/>
                </a:solidFill>
                <a:latin typeface="Calibri"/>
              </a:rPr>
              <a:t>■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Process      </a:t>
            </a:r>
            <a:r>
              <a:rPr sz="1100" b="0" i="0">
                <a:solidFill>
                  <a:srgbClr val="E8D080"/>
                </a:solidFill>
                <a:latin typeface="Calibri"/>
              </a:rPr>
              <a:t>◆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Decision      </a:t>
            </a:r>
            <a:r>
              <a:rPr sz="1100" b="0" i="0">
                <a:solidFill>
                  <a:srgbClr val="A0D0A0"/>
                </a:solidFill>
                <a:latin typeface="Calibri"/>
              </a:rPr>
              <a:t>▱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Input /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P7 / 9  ·  AI Part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PART II 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EDA Findings (1/2) — Time-Series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Plot 1 daily mean wind  ·  Plot 2 24-h rolling smoothing</a:t>
            </a:r>
          </a:p>
        </p:txBody>
      </p:sp>
      <p:pic>
        <p:nvPicPr>
          <p:cNvPr id="6" name="Picture 5" descr="plot_1_daily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57784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34340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Plot 1 · Daily mean wind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5577840" cy="155448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Year mean = 7.56 m/s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(dashed red line on plot).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Winter peak ~10 m/s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(Nov-Feb); summer trough ~4 m/s (Jun-Aug).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Take-away: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annual output strongly winter-skewed.</a:t>
            </a:r>
          </a:p>
        </p:txBody>
      </p:sp>
      <p:pic>
        <p:nvPicPr>
          <p:cNvPr id="9" name="Picture 8" descr="plot_2_ro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57784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434340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Plot 2 · 24-h rolling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63440"/>
            <a:ext cx="5577840" cy="155448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window = 24 (one diurnal cycle)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, center=True (no phase lag).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Hourly noise removed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; seasonal trend visible (red line).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Take-away: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use this curve to flag sensor drift or long calm spells.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6263640"/>
            <a:ext cx="11430000" cy="2286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★ Next slide: Plot 3 (correlation) + Plot 4 (power curve).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P8 / 9  ·  AI Part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PART II 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EDA Findings (2/2) — Statistical &amp; Curve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Plot 3 correlation matrix  ·  Plot 4 power curve</a:t>
            </a:r>
          </a:p>
        </p:txBody>
      </p:sp>
      <p:pic>
        <p:nvPicPr>
          <p:cNvPr id="6" name="Picture 5" descr="plot_3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93776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70916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Plot 3 · Correlation matrix (Pearson)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5577840" cy="128016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wind_speed ↔ power_kW = 0.91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(boxed cell on plot).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wind_dir correlations ≈ 0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— yaw control makes direction irrelevant.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Take-away: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wind speed is THE dominant predictor.</a:t>
            </a:r>
          </a:p>
        </p:txBody>
      </p:sp>
      <p:pic>
        <p:nvPicPr>
          <p:cNvPr id="9" name="Picture 8" descr="plot_4_powe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57784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4709160"/>
            <a:ext cx="5577840" cy="32004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Plot 4 · Power curve (measured vs theoretical)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5577840" cy="128016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Cubic rise 3-12 m/s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; saturation at rated 3600 kW.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Red-shaded zone above 12 m/s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: many points below theoretical → losses.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Take-away: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losses zone = curtailment / faults, future modelling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6263640"/>
            <a:ext cx="11430000" cy="2286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70000" bIns="70000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★ Tonight's deliverable: a clean, narrated EDA — same template will be reused on OrcaFlex T(t), C(t) outputs.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P9 / 9  ·  AI Part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